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48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ngf\Desktop\毕业答辩PPT\slides\title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1280160"/>
            <a:ext cx="2743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基于单片机的数字信号源设计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of a Digital Signal Source based on a Single-chip Microcontroller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答辩人：丁方周    指导教师：邢燕好    沈阳工业大学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研究背景与意义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0789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传统信号源痛点 · MCU+DDS趋势 · 市场数据 · 国内外现状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490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系统方案设计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17465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需求指标 · 总体架构 · DDS同步调相原理 · 核心器件选型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1579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硬件电路设计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241401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模块化架构 · MCU/HMI · 双路DDS时钟 · 调幅/差分 · 椭圆LPF · 功放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8254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系统软件设计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081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三层架构 · 初始化/交互/主循环 · DDS底层控制逻辑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38728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电路仿真与硬件联调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LTspice分块仿真 · 全链路联合 · 实物波形测试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365760" cy="36576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总结与展望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" y="44165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成果总结 · 指标达成 · 不足 · 未来展望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1  研究背景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36576" cy="1828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传统信号源的痛点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216152"/>
            <a:ext cx="36576" cy="153619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体积庞大，笨重不易携带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472184"/>
            <a:ext cx="36576" cy="153619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价格昂贵，高校和中小企业难以承受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28216"/>
            <a:ext cx="36576" cy="153619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700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波形参数调节不便，缺乏灵活性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84248"/>
            <a:ext cx="36576" cy="153619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功能单一，难以满足现代多样化的测试需求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822960"/>
            <a:ext cx="36576" cy="18288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 + DDS 技术趋势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216152"/>
            <a:ext cx="36576" cy="153619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可编程控制，波形参数灵活可调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472184"/>
            <a:ext cx="36576" cy="153619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体积小巧，便携性强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1728216"/>
            <a:ext cx="36576" cy="153619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700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成本低廉，性价比极高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984248"/>
            <a:ext cx="36576" cy="153619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数字化架构，易于集成和扩展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896" y="2880359"/>
            <a:ext cx="1907963" cy="2017755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26080"/>
            <a:ext cx="15506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设计目标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246119"/>
            <a:ext cx="1550644" cy="14081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基于STM32 + AD9834，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设计一款双通道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宽频（1Hz~10MHz）、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大功率（36Vpp/50Ω）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便携式数字信号源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68880" y="2880360"/>
            <a:ext cx="6400800" cy="2017754"/>
          </a:xfrm>
          <a:prstGeom prst="rect">
            <a:avLst/>
          </a:prstGeom>
          <a:solidFill>
            <a:srgbClr val="F7FAFC"/>
          </a:solidFill>
          <a:ln w="6350">
            <a:solidFill>
              <a:srgbClr val="2C6F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68880" y="2880360"/>
            <a:ext cx="56896" cy="201775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3337559"/>
            <a:ext cx="5831840" cy="1435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8F2D6652-9836-BAD1-DE08-360F5109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114" y="2907935"/>
            <a:ext cx="5109131" cy="1892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研究背景与意义（续）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1  研究背景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955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2023全球市场规模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560320" y="777240"/>
            <a:ext cx="210312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7955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CAGR(23-28)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60320" y="1298448"/>
            <a:ext cx="2103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年复合增长率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46320" y="777240"/>
            <a:ext cx="4023360" cy="640080"/>
          </a:xfrm>
          <a:prstGeom prst="rect">
            <a:avLst/>
          </a:prstGeom>
          <a:solidFill>
            <a:srgbClr val="FFF8E1"/>
          </a:solidFill>
          <a:ln w="6350">
            <a:solidFill>
              <a:srgbClr val="E8D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804672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核心驱动力：5G/物联网产业爆发 + 国产替代加速 + 高校科研投入增长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13966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国内外研究现状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1729162"/>
            <a:ext cx="4206240" cy="158608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19" y="1729162"/>
            <a:ext cx="45719" cy="160020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77488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国内研究现状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22354"/>
            <a:ext cx="36576" cy="24688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09492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普源精电(Rigol)、鼎阳科技(Siglent)等国产厂商在中低端信号源领域已实现规模量产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533834"/>
            <a:ext cx="36576" cy="24688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50640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高校和企业基于MCU+DDS架构的研究活跃，但多停留在单通道、低频段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2945314"/>
            <a:ext cx="36576" cy="24688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91788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实验室级开源方案成本可控制在￥500以内，但性能和可靠性有待提升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729162"/>
            <a:ext cx="4114800" cy="158608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54879" y="1729162"/>
            <a:ext cx="45719" cy="158608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77488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国外研究现状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122354"/>
            <a:ext cx="36576" cy="2468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09492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Keysight、Tektronix、R&amp;S占据高端市场，产品性能卓越但价格昂贵（$5000+）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2533834"/>
            <a:ext cx="36576" cy="2468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50640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高精度AWG和DDS技术成熟，多通道同步、深任意波存储为技术壁垒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2945314"/>
            <a:ext cx="36576" cy="2468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91788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ADI/TI等半导体厂商提供完整DDS+信号链方案，但价格门槛较高</a:t>
            </a:r>
            <a:endParaRPr lang="en-US" sz="8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336601"/>
              </p:ext>
            </p:extLst>
          </p:nvPr>
        </p:nvGraphicFramePr>
        <p:xfrm>
          <a:off x="274323" y="3412425"/>
          <a:ext cx="4206236" cy="1350948"/>
        </p:xfrm>
        <a:graphic>
          <a:graphicData uri="http://schemas.openxmlformats.org/drawingml/2006/table">
            <a:tbl>
              <a:tblPr/>
              <a:tblGrid>
                <a:gridCol w="1133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99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4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全球市场（亿美元）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年增长率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中国市场（亿美元）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年增长率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274319" y="4912291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数据来源：MarketsandMarkets, 2023</a:t>
            </a:r>
            <a:endParaRPr lang="en-US" sz="700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B3C73292-E4E1-CB64-89CC-2D9ABF436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7" y="3406541"/>
            <a:ext cx="4123940" cy="1586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系统方案设计——需求指标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2  系统方案设计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297680" cy="19202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36576" cy="192024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914400"/>
            <a:ext cx="411480" cy="411480"/>
          </a:xfrm>
          <a:prstGeom prst="line">
            <a:avLst/>
          </a:prstGeom>
          <a:solidFill>
            <a:srgbClr val="2C6FB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87964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双通道同步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1517904"/>
            <a:ext cx="54864" cy="18288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两路DDS独立/同步输出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865376"/>
            <a:ext cx="54864" cy="18288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相位差数控可调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212848"/>
            <a:ext cx="54864" cy="18288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输出频率、波形独立配置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777240"/>
            <a:ext cx="4023360" cy="19202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19" y="777240"/>
            <a:ext cx="45719" cy="192024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3480" y="914400"/>
            <a:ext cx="385215" cy="411480"/>
          </a:xfrm>
          <a:prstGeom prst="line">
            <a:avLst/>
          </a:prstGeom>
          <a:solidFill>
            <a:srgbClr val="2D8A4E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914400"/>
            <a:ext cx="385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83480" y="879646"/>
            <a:ext cx="29961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宽频高精度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1517904"/>
            <a:ext cx="51362" cy="1828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463040"/>
            <a:ext cx="3509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频率范围 1Hz ~ 10MHz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1865376"/>
            <a:ext cx="51362" cy="1828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1810512"/>
            <a:ext cx="3509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000" dirty="0">
                <a:solidFill>
                  <a:srgbClr val="2D3748"/>
                </a:solidFill>
                <a:latin typeface="Arial" pitchFamily="34" charset="0"/>
                <a:cs typeface="Arial" pitchFamily="34" charset="-120"/>
              </a:rPr>
              <a:t>频率连续可调</a:t>
            </a:r>
            <a:endParaRPr lang="en-US" sz="1000" dirty="0">
              <a:solidFill>
                <a:srgbClr val="2D374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4297680" cy="19202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880360"/>
            <a:ext cx="36576" cy="19202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3017520"/>
            <a:ext cx="411480" cy="411480"/>
          </a:xfrm>
          <a:prstGeom prst="line">
            <a:avLst/>
          </a:prstGeom>
          <a:solidFill>
            <a:srgbClr val="E76F51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298276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大功率驱动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11480" y="3621024"/>
            <a:ext cx="54864" cy="1828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输出电压 ±18V（36Vpp）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3968496"/>
            <a:ext cx="54864" cy="1828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913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驱动能力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880360"/>
            <a:ext cx="4023360" cy="19202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19" y="2880360"/>
            <a:ext cx="45719" cy="1920240"/>
          </a:xfrm>
          <a:prstGeom prst="rect">
            <a:avLst/>
          </a:prstGeom>
          <a:solidFill>
            <a:srgbClr val="5A3E9B"/>
          </a:solidFill>
          <a:ln/>
        </p:spPr>
      </p:sp>
      <p:sp>
        <p:nvSpPr>
          <p:cNvPr id="43" name="Shape 41"/>
          <p:cNvSpPr/>
          <p:nvPr/>
        </p:nvSpPr>
        <p:spPr>
          <a:xfrm>
            <a:off x="4983480" y="3017520"/>
            <a:ext cx="385215" cy="411480"/>
          </a:xfrm>
          <a:prstGeom prst="line">
            <a:avLst/>
          </a:prstGeom>
          <a:solidFill>
            <a:srgbClr val="5A3E9B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3017520"/>
            <a:ext cx="385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983480" y="2982766"/>
            <a:ext cx="29961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3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智能交互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83480" y="3621024"/>
            <a:ext cx="51362" cy="182880"/>
          </a:xfrm>
          <a:prstGeom prst="rect">
            <a:avLst/>
          </a:prstGeom>
          <a:solidFill>
            <a:srgbClr val="5A3E9B"/>
          </a:solidFill>
          <a:ln/>
        </p:spPr>
      </p:sp>
      <p:sp>
        <p:nvSpPr>
          <p:cNvPr id="47" name="Text 45"/>
          <p:cNvSpPr/>
          <p:nvPr/>
        </p:nvSpPr>
        <p:spPr>
          <a:xfrm>
            <a:off x="5166360" y="3566160"/>
            <a:ext cx="3509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彩色TFT液晶实时显示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83480" y="3968496"/>
            <a:ext cx="51362" cy="182880"/>
          </a:xfrm>
          <a:prstGeom prst="rect">
            <a:avLst/>
          </a:prstGeom>
          <a:solidFill>
            <a:srgbClr val="5A3E9B"/>
          </a:solidFill>
          <a:ln/>
        </p:spPr>
      </p:sp>
      <p:sp>
        <p:nvSpPr>
          <p:cNvPr id="49" name="Text 47"/>
          <p:cNvSpPr/>
          <p:nvPr/>
        </p:nvSpPr>
        <p:spPr>
          <a:xfrm>
            <a:off x="5166360" y="3913632"/>
            <a:ext cx="3509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旋转编码器无级调参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83480" y="4315968"/>
            <a:ext cx="51362" cy="182880"/>
          </a:xfrm>
          <a:prstGeom prst="rect">
            <a:avLst/>
          </a:prstGeom>
          <a:solidFill>
            <a:srgbClr val="5A3E9B"/>
          </a:solidFill>
          <a:ln/>
        </p:spPr>
      </p:sp>
      <p:sp>
        <p:nvSpPr>
          <p:cNvPr id="51" name="Text 49"/>
          <p:cNvSpPr/>
          <p:nvPr/>
        </p:nvSpPr>
        <p:spPr>
          <a:xfrm>
            <a:off x="5166360" y="4261104"/>
            <a:ext cx="3509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波形、频率、幅度一键切换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系统方案设计——总体架构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2  系统方案设计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434" y="777240"/>
            <a:ext cx="3592286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314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DDS同步调相原理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314" y="1143000"/>
            <a:ext cx="3533503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fout = (FTW / 2²⁸) × fclk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314" y="1417320"/>
            <a:ext cx="3533503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Δf = 75MHz / 2²⁸ ≈ 0.28Hz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314" y="1600200"/>
            <a:ext cx="3533503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Δφ = 360° / 4096 = 0.088°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314" y="1828800"/>
            <a:ext cx="340940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两片AD9834共用75MHz同源时钟，RESET引脚短接实现纳秒级同步启动。独立12位相位寄存器实现0.088°高精度相位差调节。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434" y="2880360"/>
            <a:ext cx="3592286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314" y="2926080"/>
            <a:ext cx="340940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系统信号链路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314" y="3246120"/>
            <a:ext cx="1438089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329314" y="3246120"/>
            <a:ext cx="14380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MCU: STM32F407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33571" y="32411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15759" y="3601777"/>
            <a:ext cx="1318466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1915758" y="3601777"/>
            <a:ext cx="13184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DDS: AD9834 ×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825011" y="3464617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314" y="3611880"/>
            <a:ext cx="1438089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329314" y="3611880"/>
            <a:ext cx="14380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调幅: AD5623R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33571" y="3601777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15757" y="3967537"/>
            <a:ext cx="1318467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1915760" y="3967537"/>
            <a:ext cx="13184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差分: AD8130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404217" y="3876097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314" y="3977640"/>
            <a:ext cx="1438089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329314" y="3977640"/>
            <a:ext cx="14380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LPF: 7阶椭圆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 rot="10800000">
            <a:off x="1733571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15758" y="4333297"/>
            <a:ext cx="1318466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4" name="Text 32"/>
          <p:cNvSpPr/>
          <p:nvPr/>
        </p:nvSpPr>
        <p:spPr>
          <a:xfrm>
            <a:off x="1928209" y="4336334"/>
            <a:ext cx="1306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功放: ADA4870</a:t>
            </a:r>
            <a:endParaRPr lang="en-US" sz="75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E7501D9-10CC-F7C9-48D1-AD28ED306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20" y="777240"/>
            <a:ext cx="5399405" cy="4001135"/>
          </a:xfrm>
          <a:prstGeom prst="rect">
            <a:avLst/>
          </a:prstGeom>
        </p:spPr>
      </p:pic>
      <p:sp>
        <p:nvSpPr>
          <p:cNvPr id="42" name="Text 28">
            <a:extLst>
              <a:ext uri="{FF2B5EF4-FFF2-40B4-BE49-F238E27FC236}">
                <a16:creationId xmlns:a16="http://schemas.microsoft.com/office/drawing/2014/main" id="{71590BDD-7306-6EEF-BE28-D51598724896}"/>
              </a:ext>
            </a:extLst>
          </p:cNvPr>
          <p:cNvSpPr/>
          <p:nvPr/>
        </p:nvSpPr>
        <p:spPr>
          <a:xfrm>
            <a:off x="1745330" y="4333297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314" y="4343400"/>
            <a:ext cx="1438089" cy="2743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2" name="Text 30"/>
          <p:cNvSpPr/>
          <p:nvPr/>
        </p:nvSpPr>
        <p:spPr>
          <a:xfrm>
            <a:off x="285579" y="4353503"/>
            <a:ext cx="143808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复用: ADG619</a:t>
            </a:r>
            <a:endParaRPr lang="en-US" sz="750" dirty="0"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2F8829C3-F6A2-2319-B911-1A501CF2C25B}"/>
              </a:ext>
            </a:extLst>
          </p:cNvPr>
          <p:cNvSpPr/>
          <p:nvPr/>
        </p:nvSpPr>
        <p:spPr>
          <a:xfrm>
            <a:off x="911198" y="4244915"/>
            <a:ext cx="2743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核心器件选型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2  系统方案设计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43214"/>
              </p:ext>
            </p:extLst>
          </p:nvPr>
        </p:nvGraphicFramePr>
        <p:xfrm>
          <a:off x="274320" y="777240"/>
          <a:ext cx="7223760" cy="347472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器件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选型方案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关键参数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选型理由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主控MCU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STM32F407VGT6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Cortex-M4, 168MHz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硬件FPU, FSMC, DMA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算力充足，外设丰富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开发生态完善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DDS芯片×2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AD9834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75MHz时钟, 28位频率字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12位相位字, 独立RESET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兼顾速率与精度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双路同步控制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功放运放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ADA4870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±20V, 1A输出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2500V/μs压摆率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满足大功率驱动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充裕设计裕量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时钟扇出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CDCLVC1102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极低附加抖动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双路LVCMOS输出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星型扇出等长布线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保证时钟同步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模拟开关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ADG619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200MHz带宽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RON=4Ω SPDT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高速波形复用切换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调幅DAC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AD5623R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双路12位电压DAC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极低温漂内部基准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原边调幅零失真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389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详细对比分析参见论文第2章表2-1至表2-5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硬件电路设计——总体概览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635135" cy="39319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模块化架构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主控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1188720"/>
            <a:ext cx="18332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STM32F407 — 人机交互 + 逻辑控制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27632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276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时钟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1627632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CDCLVC1102 — 75MHz同源扇出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066544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665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DDS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05840" y="2066544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AD9834×2 — 双路同步波形生成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05456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054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调幅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" y="2505456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AD5623R — 原边程控幅度调节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443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差分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2944368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AD8130 — 差分转单端调理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LPF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5840" y="3383280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7阶椭圆 — 12MHz低通滤波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22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复用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05840" y="3822192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ADG619 — 波形选通切换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261104"/>
            <a:ext cx="457200" cy="27432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61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功放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05840" y="4261104"/>
            <a:ext cx="17629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ADA4870 — 高压大功率输出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92335" y="777240"/>
            <a:ext cx="5777345" cy="393192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52044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5ED1BF2-96D2-6666-3B0A-338EF0DD0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325" y="822960"/>
            <a:ext cx="5415475" cy="3823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主控微处理器与人机交互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3428041" cy="217627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STM32F407最小系统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Cortex-M4 168MHz | </a:t>
            </a:r>
            <a:r>
              <a:rPr lang="en-US" sz="900" b="1" dirty="0" err="1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硬件FPU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99032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1" y="1371600"/>
            <a:ext cx="25654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每对VDD/VSS就近并联100nF+10μF去耦电容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709928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82496"/>
            <a:ext cx="25654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VCAP_1/VCAP_2外接2.2μF防内核电压跌落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020824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93392"/>
            <a:ext cx="25654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8MHz主晶振 + 32.768kHz RTC晶振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04288"/>
            <a:ext cx="256543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SWD调试接口 + 按键复位电路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15184"/>
            <a:ext cx="256543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FSMC接口扩展，支持高速并行外设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0039" y="777240"/>
            <a:ext cx="4703085" cy="93268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70039" y="777240"/>
            <a:ext cx="50180" cy="93268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/>
          <p:nvPr/>
        </p:nvSpPr>
        <p:spPr>
          <a:xfrm>
            <a:off x="4252919" y="822960"/>
            <a:ext cx="4153909" cy="1793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TFT显示驱动 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52919" y="1051560"/>
            <a:ext cx="4153909" cy="609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ST7789 320×240彩色TFT，四线SPI+DMA架构。CPU构建显存，DMA自动搬运至SPI寄存器，刷新与算力完全解耦。区域覆盖刷新算法仅更新变动数字区域，响应极快。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1" y="3072384"/>
            <a:ext cx="342804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1" y="3118104"/>
            <a:ext cx="312332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EC11旋转编码器输入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465576"/>
            <a:ext cx="45719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1" y="3438144"/>
            <a:ext cx="304714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硬件RC消抖网络（τ ≈ 100μs）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85616"/>
            <a:ext cx="45719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1" y="3758184"/>
            <a:ext cx="304714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高级定时器正交编码器模式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05656"/>
            <a:ext cx="45719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1" y="4078224"/>
            <a:ext cx="304714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四倍频计数，10Hz轮询 → 零漏步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425696"/>
            <a:ext cx="45719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1" y="4398264"/>
            <a:ext cx="3047147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无级调频 + 按键切换功能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70038" y="1853419"/>
            <a:ext cx="4703085" cy="2997825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39" y="1179575"/>
            <a:ext cx="45719" cy="45719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557784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433FBFC8-6DBC-A9A3-2CB0-D9B8DA9C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25" y="1883125"/>
            <a:ext cx="4153909" cy="29426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时钟树与双路DDS核心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77712"/>
            <a:ext cx="4114800" cy="1297896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23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75MHz同源时钟树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116624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89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75MHz有源晶振 → CDCLVC1102 → 双路等长布线 → AD9834×2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407744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80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星型扇出拓扑，严格50Ω特征阻抗匹配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86416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58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蛇形等长走线（Length Matching），时钟偏差趋近于零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48703"/>
            <a:ext cx="4114800" cy="112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94423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SPI总线配置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96175"/>
            <a:ext cx="36576" cy="164592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6874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两片DDS共享SCLK时钟线和SDATA数据线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70495"/>
            <a:ext cx="36576" cy="164592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4306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独立FSYNC片选引脚分时复用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44815"/>
            <a:ext cx="36576" cy="164592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17383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28位频率字分两次14位写入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1" y="3287111"/>
            <a:ext cx="4114800" cy="179451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87111"/>
            <a:ext cx="91441" cy="179451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1" y="333283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原子级同步唤醒 ★ 核心创新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1" y="357201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两片AD9834的RESET引脚硬件短接，共同连接至STM32同一高速GPIO引脚。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1" y="4012728"/>
            <a:ext cx="548640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1" y="40127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97281" y="4012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拉高GPIO → 双路DDS同时复位，相位累加器强制清零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1" y="4276732"/>
            <a:ext cx="548640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1" y="42767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97281" y="42767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SPI写入目标频率字和相位偏置字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1" y="4546954"/>
            <a:ext cx="548640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1" y="454695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97281" y="454695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BSRR寄存器单周期指令瞬间拉低GPIO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1" y="4817176"/>
            <a:ext cx="548640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1" y="4817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97281" y="481717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首个75MHz时钟上升沿同时启动输出，纳秒级同步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2" y="731398"/>
            <a:ext cx="4206238" cy="1884232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662940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835087"/>
            <a:ext cx="4206240" cy="2008118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662940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2296D8E3-530D-4CE8-7CEB-68081FDE7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1" y="910375"/>
            <a:ext cx="3931918" cy="1477623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F8397C90-898D-5CE8-6421-6EA0B257B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2" y="2962115"/>
            <a:ext cx="4100176" cy="1754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程控调幅与差分调理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39"/>
            <a:ext cx="3504774" cy="2012951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45719" cy="201295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22960"/>
            <a:ext cx="319323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创新型原边程控调幅 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3193239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颠覆常规后级VGA方案，逆向控制DDS底层电流基准：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199" y="1444752"/>
            <a:ext cx="45719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17320"/>
            <a:ext cx="31153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AD5623R双路12位电压输出DAC，极低温漂内部基准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199" y="1792224"/>
            <a:ext cx="45719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764792"/>
            <a:ext cx="31153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DAC输出串联低温度系数电阻控制FS ADJUST引脚电流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199" y="2139696"/>
            <a:ext cx="45719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12264"/>
            <a:ext cx="31153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IDAC = 18 × (1.2V - VDAC) / RF（满量程电流公式）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199" y="2487168"/>
            <a:ext cx="45719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59736"/>
            <a:ext cx="311535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彻底避开对10MHz高频交流信号直接处理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053414" y="773269"/>
            <a:ext cx="4114800" cy="178645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6294" y="818989"/>
            <a:ext cx="3749040" cy="267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差分转单端（AD8130）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36294" y="1166461"/>
            <a:ext cx="36576" cy="203655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3" name="Text 31"/>
          <p:cNvSpPr/>
          <p:nvPr/>
        </p:nvSpPr>
        <p:spPr>
          <a:xfrm>
            <a:off x="4327734" y="1139029"/>
            <a:ext cx="3657600" cy="33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ADI高速差分接收器，±5V双电源独立供电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36294" y="1513933"/>
            <a:ext cx="36576" cy="203655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5" name="Text 33"/>
          <p:cNvSpPr/>
          <p:nvPr/>
        </p:nvSpPr>
        <p:spPr>
          <a:xfrm>
            <a:off x="4327734" y="1486501"/>
            <a:ext cx="3657600" cy="33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主动差分反馈架构，无需外部匹配电阻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36294" y="1861405"/>
            <a:ext cx="36576" cy="203655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7" name="Text 35"/>
          <p:cNvSpPr/>
          <p:nvPr/>
        </p:nvSpPr>
        <p:spPr>
          <a:xfrm>
            <a:off x="4327734" y="1833973"/>
            <a:ext cx="3657600" cy="33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极高CMRR，完美抑制共模直流分量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36294" y="2208877"/>
            <a:ext cx="36576" cy="203655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9" name="Text 37"/>
          <p:cNvSpPr/>
          <p:nvPr/>
        </p:nvSpPr>
        <p:spPr>
          <a:xfrm>
            <a:off x="4327734" y="2181445"/>
            <a:ext cx="3657600" cy="339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预增益：AV = 1 + 43k/9.53k ≈ 5.53倍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09046" y="2426745"/>
            <a:ext cx="3840480" cy="41148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0486" y="2454177"/>
            <a:ext cx="36576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 ±0.3V 微弱阶梯波 → 放大至 ±1.65V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2935188"/>
            <a:ext cx="3504774" cy="1946479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57607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09046" y="2921937"/>
            <a:ext cx="3653762" cy="194080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01200" y="57607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3E9E555C-860B-2C15-55CC-90A0A8710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3021125"/>
            <a:ext cx="3387499" cy="1741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B57C6536-F837-8989-1276-BDD40E565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144" y="2986596"/>
            <a:ext cx="2399525" cy="1810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七阶椭圆滤波器与波形复用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2386584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七阶椭圆低通滤波器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Cauer（椭圆函数）型 — 过渡带最陡峭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53312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258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75MHz采样时钟 → 65MHz最近镜像杂散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3677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多级LC谐振网络：L1~L7 + C1~C7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75104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9476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NPO/C0G极低损耗射频电容（33pF~330pF）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585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截止频率 fc ≈ 12MHz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596896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694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阻带衰减 &gt; 60dB @ 65MHz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36576" cy="18653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03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双端50Ω匹配：消除驻波反射，形成1:2分压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777240"/>
            <a:ext cx="4114800" cy="1737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波形复用（ADG619）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0972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宽带SPDT模拟开关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135331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200MHz模拟带宽，导通电阻 RON ≈ 4Ω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167335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平坦导通电阻，THD极低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37760" y="199339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MCU GPIO控制，毫秒级无缝切换正弦波/方波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617627"/>
            <a:ext cx="3840480" cy="457200"/>
          </a:xfrm>
          <a:prstGeom prst="rect">
            <a:avLst/>
          </a:prstGeom>
          <a:solidFill>
            <a:srgbClr val="FFF8E1"/>
          </a:solidFill>
          <a:ln w="6350">
            <a:solidFill>
              <a:srgbClr val="E8D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645059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正弦波/</a:t>
            </a:r>
            <a:r>
              <a:rPr lang="en-US" sz="850" dirty="0" err="1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方波幅值统一</a:t>
            </a:r>
            <a:r>
              <a:rPr lang="en-US" sz="8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zh-CN" altLang="en-US" sz="85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归一化处理，</a:t>
            </a:r>
            <a:r>
              <a:rPr lang="en-US" sz="850" dirty="0" err="1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简化功放增益配置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286354"/>
            <a:ext cx="4114800" cy="155448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571500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79" y="3218688"/>
            <a:ext cx="4114799" cy="155448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01200" y="571500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606B739D-AE66-5116-1253-22B1E269D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38" y="3345544"/>
            <a:ext cx="3442364" cy="146420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4458802C-CD36-2CFC-14F4-BC5F4B0F3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586" y="3341801"/>
            <a:ext cx="3553384" cy="13082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高压大功率输出驱动级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3  硬件电路设计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93650"/>
            <a:ext cx="1005840" cy="58651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62876"/>
            <a:ext cx="1005840" cy="29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±20V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1067426"/>
            <a:ext cx="1005840" cy="20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供电电压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18954" y="690836"/>
            <a:ext cx="1005840" cy="58651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8954" y="760062"/>
            <a:ext cx="1005840" cy="29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36Vpp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8954" y="1064612"/>
            <a:ext cx="1005840" cy="20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峰峰值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363588" y="693650"/>
            <a:ext cx="1005840" cy="58651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3588" y="762876"/>
            <a:ext cx="1005840" cy="293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zh-CN" altLang="en-US" sz="16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3588" y="1067426"/>
            <a:ext cx="1005840" cy="209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385316"/>
            <a:ext cx="4095108" cy="1904695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431036"/>
            <a:ext cx="3731098" cy="204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增益设计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1705356"/>
            <a:ext cx="3731098" cy="13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ADA4870 — 单片高压高速大功率运放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1933956"/>
            <a:ext cx="3731098" cy="13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同相放大器结构：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162556"/>
            <a:ext cx="3731098" cy="238087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162556"/>
            <a:ext cx="3549094" cy="238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1 + RF/RG = 1 + 10kΩ/1kΩ = 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2528316"/>
            <a:ext cx="3731098" cy="13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前级 ±0.825V × 11 = 目标 ±18V 输出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756916"/>
            <a:ext cx="3731098" cy="13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压摆率需求：SR = 2π × 10MHz × 18V ≈ 1131V/μs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2985516"/>
            <a:ext cx="3731098" cy="13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ADA4870实际压摆率2500V/μs，裕量 &gt; 2倍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395168"/>
            <a:ext cx="4095108" cy="1529596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19" y="3395168"/>
            <a:ext cx="49509" cy="15295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40887"/>
            <a:ext cx="3731098" cy="163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热设计与输出保护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199" y="3788360"/>
            <a:ext cx="49509" cy="1245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760928"/>
            <a:ext cx="3640096" cy="207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独立 ±20V 大功率开关电源供电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199" y="4135832"/>
            <a:ext cx="49509" cy="1245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108400"/>
            <a:ext cx="3640096" cy="207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大面积热敷铜 + Thermal Pad + 密集Vias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199" y="4455680"/>
            <a:ext cx="49509" cy="1245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428248"/>
            <a:ext cx="3640096" cy="2075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满载热耗散约3.5W → 必须大面积散热设计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27092" y="854050"/>
            <a:ext cx="3959708" cy="4042562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71323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C153E073-4487-65F9-BB4D-88C1A737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996" y="1385316"/>
            <a:ext cx="3449899" cy="29734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系统软件设计——总体架构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4  系统软件设计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788920" cy="41148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777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2788920" cy="185623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25880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系统时钟配置（168MHz主频 + 75MHz DDS时钟）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764792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GPIO/SPI/定时器外设初始化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203704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TFT显存清零 + 初始界面绘制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642616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DDS初始频率/相位/波形写入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63240" y="868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777240"/>
            <a:ext cx="2788920" cy="411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777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1280160"/>
            <a:ext cx="2788920" cy="185623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325880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EC11旋转编码器中断轮询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37560" y="1764792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按键事件解析（频率/波形/幅度切换）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37560" y="2203704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TFT区域覆盖刷新（仅更新变动数字）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2642616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DMA显存搬运 → SPI自动刷新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035040" y="868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777240"/>
            <a:ext cx="2788920" cy="41148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7772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主循环层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2788920" cy="185623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325880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事件队列处理（编码器增量 → 参数计算）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309360" y="1764792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SPI参数更新指令下发（频率字/相位字）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309360" y="2203704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系统状态管理和显示同步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09360" y="2642616"/>
            <a:ext cx="2560320" cy="334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异常监测（参数越界/通信超时）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241182"/>
            <a:ext cx="8595360" cy="1574688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开发环境：Keil MDK-ARM V5 | STM32CubeMX HAL库 | C语言标准C99</a:t>
            </a:r>
            <a:endParaRPr lang="en-US" sz="750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DD0AF42-124B-6F46-CD52-F06DD40A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613984" y="1453713"/>
            <a:ext cx="155027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DDS底层控制逻辑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4  系统软件设计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777240"/>
            <a:ext cx="4114800" cy="39319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频率/相位控制字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28位频率控制字（FTW）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FTW = fout × 2²⁸ / fclk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6916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例：fout = 1MHz, fclk = 75MHz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FTW = 1M × 268435456 / 75M ≈ 3579139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0x369D03（分两次14位 SPI写入）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12位相位控制字（POW）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 = Δφ × 4096 / 360°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例：Δφ = 90° → POW = 90 × 4096 / 360 = 1024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相位步进分辨率：360°/4096 = 0.088°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520440"/>
            <a:ext cx="3840480" cy="6858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47872"/>
            <a:ext cx="365760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控制寄存器（CR）配置：</a:t>
            </a:r>
            <a:endParaRPr lang="en-US" sz="8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RESET、SLEEP1、SLEEP12、OPBITEN、SIGN/PIB、DIV2 → 决定工作模式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114800" cy="16459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AD9834内部结构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117043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28位相位累加器（Phase Accumulator）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149047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波形查找表（SIN ROM / 方波比较器）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37760" y="181051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10位高速DAC + 满量程电流控制（FS ADJUST）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213055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内部高速比较器（SIGN BIT OUT方波输出）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06040"/>
            <a:ext cx="4114800" cy="2103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 err="1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SPI写入时序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999232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单次写入16位数据：控制位（2bit）+ 数据（14bit）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3364992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FSYNC拉低 → SCLK上升沿逐位锁存 → FSYNC拉高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37760" y="3730752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先写高14位（MODE=1），再写低14位（MODE=0）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4096512"/>
            <a:ext cx="36576" cy="2194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频率/相位更新需RESET脉冲或等待下一个SYNC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498080" y="73609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电路仿真——仿真平台与滤波器验证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5  电路仿真与调试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65525"/>
            <a:ext cx="914400" cy="309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391999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仿真平台：LTspice（ADI官方宏模型）| 策略：分块解耦仿真（正弦波链路、方波链路、功放级独立仿真）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3920" y="1244991"/>
            <a:ext cx="4114800" cy="16916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920" y="1244991"/>
            <a:ext cx="36576" cy="169164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2" name="Text 10"/>
          <p:cNvSpPr/>
          <p:nvPr/>
        </p:nvSpPr>
        <p:spPr>
          <a:xfrm>
            <a:off x="456800" y="1290711"/>
            <a:ext cx="3749040" cy="220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AD8130 差分转单端仿真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6800" y="1610751"/>
            <a:ext cx="3749040" cy="367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设置：注入带0.3V共模偏置的微弱差分正弦波,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AD8130 ±5V供电，反馈5.53倍增益，瞬态分析 .tran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080" y="2113671"/>
            <a:ext cx="3840480" cy="588397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520" y="2159391"/>
            <a:ext cx="3657600" cy="52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完美抑制共模直流分量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输出以0V为中心的纯净双极性正弦波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峰值精确达到 ±1.65V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19" y="3036022"/>
            <a:ext cx="4114799" cy="1835742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64465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480" y="1244991"/>
            <a:ext cx="4114800" cy="16916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480" y="1244991"/>
            <a:ext cx="36576" cy="1691640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360" y="1290711"/>
            <a:ext cx="3749040" cy="220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七阶椭圆LPF频域仿真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360" y="1610751"/>
            <a:ext cx="3749040" cy="367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设置：交流扫描 .ac dec 100 10Hz 100MHz,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源端50Ω + 终端50Ω双端匹配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1640" y="2113671"/>
            <a:ext cx="3840480" cy="588397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080" y="2159391"/>
            <a:ext cx="3657600" cy="52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通带内微小等波纹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15MHz后砖墙式跌落</a:t>
            </a:r>
            <a:endParaRPr lang="en-US" sz="8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65MHz镜像频率处衰减 &gt; -60dB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036022"/>
            <a:ext cx="4114800" cy="1835742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644652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9CB4271-49ED-236F-2AC1-873C7F69B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260" y="3049738"/>
            <a:ext cx="3977240" cy="180831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8C7997B-9A1E-7B9C-1C8C-4A5B11199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19" y="3071803"/>
            <a:ext cx="3886600" cy="1775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全链路瞬态与功率分析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5  电路仿真与调试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36576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04672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综合仿真：完整复现"信号分离—调理—复用—放大"全流程，严格按第三章硬件架构搭建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53312"/>
            <a:ext cx="320040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99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仿真链路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719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差分输入 → AD8130（5.5倍）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→ 7阶椭圆LPF（fc≈14MHz）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3042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→ ADG619 波形复用切换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5968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→ ADA4870（11倍）→ 50Ω → BNC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0" y="1353312"/>
            <a:ext cx="5029200" cy="1591056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1353312"/>
            <a:ext cx="36576" cy="1591056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1399032"/>
            <a:ext cx="4663440" cy="23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10MHz瞬态仿真结果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1719072"/>
            <a:ext cx="4663440" cy="23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V(sin_out) 绿色：±0.825V纯净正弦波，65MHz杂散已彻底滤除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0" y="2011680"/>
            <a:ext cx="4663440" cy="23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V(pulse_out) 蓝色：±1.65V方波，1ns超快边沿无损保留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0" y="2304288"/>
            <a:ext cx="4663440" cy="23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V(bnc_out) 红色：最终输出 ±18V / 36Vpp 大功率信号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0" y="2596896"/>
            <a:ext cx="4663440" cy="238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正弦波/方波切换在微秒级无缝衔接，无尖峰过电压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3200400" cy="10972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热分析结果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6791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ADA4870满负荷热耗散 ≈ 3.5W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4223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芯片结温 ≈ 85°C（25°C环境）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需大面积散热设计确保可靠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0" y="3063240"/>
            <a:ext cx="5029200" cy="1674266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626364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全链路联合仿真完美验证理论设计，所有指标均达到预期</a:t>
            </a:r>
            <a:endParaRPr lang="en-US" sz="85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897EC21C-E472-2C0B-5819-1C69E8D4C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619" y="3111931"/>
            <a:ext cx="4322922" cy="1605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硬件联调与波形测试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5  电路仿真与调试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ST7789显示与UI交互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36576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2.4英寸TFT实时显示频率/波形/幅度参数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17904"/>
            <a:ext cx="36576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90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EC11编码器无级调频，响应流畅无卡顿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65376"/>
            <a:ext cx="36576" cy="208483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379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SPI+DMA架构确保高帧率刷新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中低频段测试（1kHz ~ 1MHz）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示波器呈现极其平滑的正弦波，幅度约±0.3V，含直流共模偏置（与单电源DAC特性吻合）。波形无可见失真，谐波分量极低。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3931920" cy="411480"/>
          </a:xfrm>
          <a:prstGeom prst="rect">
            <a:avLst/>
          </a:prstGeom>
          <a:solidFill>
            <a:srgbClr val="E8F5E9"/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67912"/>
            <a:ext cx="37490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低频频响平坦，波形完整性好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1920240" cy="210312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352044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777240"/>
            <a:ext cx="2011680" cy="210312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352044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154680"/>
            <a:ext cx="4114800" cy="137160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589788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A8E9A62-2812-2D8D-24CB-B4951E51E1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1736" y="825185"/>
            <a:ext cx="1866527" cy="1997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388E547-8DD7-4318-3354-262E648404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768" y="886968"/>
            <a:ext cx="1938144" cy="190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D74D29D-6707-8E12-E598-8441EA9936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968" y="3201711"/>
            <a:ext cx="3413014" cy="1236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极限频率与方波通道测试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5  电路仿真与调试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4114800" cy="2103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777240"/>
            <a:ext cx="36576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10MHz极限频率测试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430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实测频率 10.000MHz，频率控制极为精准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每周期仅7.5个采样点，出现明显阶梯效应（DAC零阶保持效应）。这验证了七阶椭圆滤波器的绝对必要性——经过滤波后阶梯效应被有效消除，输出平滑正弦波。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3931920" cy="502920"/>
          </a:xfrm>
          <a:prstGeom prst="rect">
            <a:avLst/>
          </a:prstGeom>
          <a:solidFill>
            <a:srgbClr val="FFF8E1"/>
          </a:solidFill>
          <a:ln w="6350">
            <a:solidFill>
              <a:srgbClr val="E8D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21992"/>
            <a:ext cx="3749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10MHz单周期7.5点 → 滤波器后恢复平滑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777240"/>
            <a:ext cx="4114800" cy="2103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822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方波通道测试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121615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占空比精确50%，边沿上升时间极短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53619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未见容性迟滞或过冲振荡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185623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ADG619波形切换逻辑工作正常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217627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AD9834内部比较器配置正确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2496312"/>
            <a:ext cx="36576" cy="192024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RC隔直网络输出纯净±1.65V双极性方波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2011680" cy="192024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566928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926080"/>
            <a:ext cx="1920240" cy="1920240"/>
          </a:xfrm>
          <a:prstGeom prst="rect">
            <a:avLst/>
          </a:prstGeom>
          <a:solidFill>
            <a:srgbClr val="F0F6FF"/>
          </a:solidFill>
          <a:ln w="19050">
            <a:solidFill>
              <a:srgbClr val="2C6F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5669280"/>
            <a:ext cx="0" cy="0"/>
          </a:xfrm>
          <a:prstGeom prst="rect">
            <a:avLst/>
          </a:prstGeom>
          <a:solidFill>
            <a:srgbClr val="F0F6FF"/>
          </a:solidFill>
          <a:ln w="9525">
            <a:solidFill>
              <a:srgbClr val="B8D4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926080"/>
            <a:ext cx="36576" cy="164592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971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测试结论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3273552"/>
            <a:ext cx="36576" cy="192024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频率准确度：实测与设定值一致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593592"/>
            <a:ext cx="36576" cy="192024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波形质量：低频平滑，高频滤波器有效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3913632"/>
            <a:ext cx="36576" cy="192024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方波完整性：占空比、边沿均达标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37760" y="4233672"/>
            <a:ext cx="36576" cy="192024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系统稳定性：长时间运行无异常</a:t>
            </a:r>
            <a:endParaRPr lang="en-US" sz="900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C7A9A8C3-CC41-8F3C-9E7F-122B425F68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" y="3067812"/>
            <a:ext cx="1920240" cy="1604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7A08D37-2941-E417-319B-0B6A44BAF5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744" y="3059299"/>
            <a:ext cx="1801368" cy="1653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0" y="109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Part 6  总结与展望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27432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8595360" cy="1316736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成果总结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36576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0972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系统级架构：确立"数字基带生成 + 独立链路调理 + 模拟复用 + 统一高压驱动"架构，科学选型满足10MHz/大功率要求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353312"/>
            <a:ext cx="36576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53312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模拟链路设计：AD8130差分转单端 + 七阶椭圆LPF（fc≈14MHz, &gt;60dB@65MHz）+ ADA4870功放，LTspice联合仿真验证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1609344"/>
            <a:ext cx="36576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09344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软件与交互：高级定时器正交解码 + ST7789 SPI+DMA局部刷新，实现仪器级流畅的无级调频体验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865376"/>
            <a:ext cx="36576" cy="201168"/>
          </a:xfrm>
          <a:prstGeom prst="rect">
            <a:avLst/>
          </a:prstGeom>
          <a:solidFill>
            <a:srgbClr val="2C6FB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65376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物理闭环验证：实测抓取10MHz极限工况波形，实测数据与前仿真理论高度吻合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148840"/>
            <a:ext cx="4114800" cy="13258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D8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指标达成情况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96312"/>
            <a:ext cx="36576" cy="120701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✓ 频率范围 1Hz ~ 10MHz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36576" cy="120701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70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✓ 相位分辨率 0.088°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898648"/>
            <a:ext cx="36576" cy="120701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712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✓ 输出电压 ±18V / 36Vpp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099816"/>
            <a:ext cx="36576" cy="120701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723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✓ 50Ω负载驱动 360mA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300984"/>
            <a:ext cx="36576" cy="120701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735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✓ 双路DDS同步架构设计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148840"/>
            <a:ext cx="4114800" cy="12801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设计不足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249631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10MHz高频段带内平坦度待提升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277063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大功率散热需进一步优化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3044952"/>
            <a:ext cx="36576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单通道实物暂未验证双路同步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611880"/>
            <a:ext cx="8595360" cy="77724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6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未来展望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ALC闭环补偿 → 宽带峰值检波+ADC反馈，消除高频衰减  |  强化热设计 → 大面积覆铜+热Vias+温控风扇  |  双路实物验证 → I/Q正交解调应用  |  触控屏+RTOS智能化升级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81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感谢各位老师莅临指导！恳请批评指正。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ngf\Desktop\毕业答辩PPT\slides\title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0" y="1463040"/>
            <a:ext cx="2743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致  谢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感谢各位老师莅临指导！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答辩人：丁方周    指导教师：邢燕好    沈阳工业大学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恳请各位老师批评指正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1870</Words>
  <Application>Microsoft Office PowerPoint</Application>
  <PresentationFormat>全屏显示(16:9)</PresentationFormat>
  <Paragraphs>442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基于单片机的数字信号源设计</dc:title>
  <dc:subject>本科毕业设计答辩</dc:subject>
  <dc:creator>丁方周</dc:creator>
  <cp:lastModifiedBy>方周 丁</cp:lastModifiedBy>
  <cp:revision>8</cp:revision>
  <dcterms:created xsi:type="dcterms:W3CDTF">2026-06-07T04:55:40Z</dcterms:created>
  <dcterms:modified xsi:type="dcterms:W3CDTF">2026-06-07T08:24:06Z</dcterms:modified>
</cp:coreProperties>
</file>